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28090"/>
            </a:solidFill>
            <a:ln w="9525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0-18</c:v>
                  </c:pt>
                  <c:pt idx="1">
                    <c:v>19-35</c:v>
                  </c:pt>
                  <c:pt idx="2">
                    <c:v>51-65</c:v>
                  </c:pt>
                  <c:pt idx="3">
                    <c:v>36-50</c:v>
                  </c:pt>
                  <c:pt idx="4">
                    <c:v>66+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122</c:v>
                </c:pt>
                <c:pt idx="1">
                  <c:v>114</c:v>
                </c:pt>
                <c:pt idx="2">
                  <c:v>99</c:v>
                </c:pt>
                <c:pt idx="3">
                  <c:v>92</c:v>
                </c:pt>
                <c:pt idx="4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28090"/>
            </a:solidFill>
            <a:ln w="9525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Gastroenterology</c:v>
                  </c:pt>
                  <c:pt idx="1">
                    <c:v>Orthopedics</c:v>
                  </c:pt>
                  <c:pt idx="2">
                    <c:v>Physiotherapy</c:v>
                  </c:pt>
                  <c:pt idx="3">
                    <c:v>Cardiology</c:v>
                  </c:pt>
                  <c:pt idx="4">
                    <c:v>General Practice</c:v>
                  </c:pt>
                  <c:pt idx="5">
                    <c:v>Neurology</c:v>
                  </c:pt>
                  <c:pt idx="6">
                    <c:v>Renal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28090"/>
            </a:solidFill>
            <a:ln w="9525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Neurology</c:v>
                  </c:pt>
                  <c:pt idx="1">
                    <c:v>Physiotherapy</c:v>
                  </c:pt>
                  <c:pt idx="2">
                    <c:v>Gastroenterology</c:v>
                  </c:pt>
                  <c:pt idx="3">
                    <c:v>Cardiology</c:v>
                  </c:pt>
                  <c:pt idx="4">
                    <c:v>General Practice</c:v>
                  </c:pt>
                  <c:pt idx="5">
                    <c:v>Orthopedics</c:v>
                  </c:pt>
                  <c:pt idx="6">
                    <c:v>Renal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</c:v>
                </c:pt>
                <c:pt idx="1">
                  <c:v>37</c:v>
                </c:pt>
                <c:pt idx="2">
                  <c:v>36</c:v>
                </c:pt>
                <c:pt idx="3">
                  <c:v>35</c:v>
                </c:pt>
                <c:pt idx="4">
                  <c:v>35</c:v>
                </c:pt>
                <c:pt idx="5">
                  <c:v>35</c:v>
                </c:pt>
                <c:pt idx="6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media/icon-hosp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1119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ANALYSIS REPORT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Columbia Asia Hospital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Staffing &amp; Patient Discount Strategy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1605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Aishik Dalui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Data Analyst  |  Professional Certificate Course in Data Science – January 2026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Data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has engaged an external data analyst to turn its operational records into a set of clear, decision-ready insights across three business questions: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6949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974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media/icon-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87304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6060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Generation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299923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hospital make its money, and which departments drive it?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840480"/>
            <a:ext cx="6949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40690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media/icon-do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424464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977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Priorities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91640" y="437083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are most in need of additional doctors?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212080"/>
            <a:ext cx="6949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5440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media/icon-discou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561624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53492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Discounts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91640" y="574243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how should discounts be offered without hurting margins?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909560" y="1554480"/>
            <a:ext cx="3749040" cy="4754880"/>
          </a:xfrm>
          <a:prstGeom prst="roundRect">
            <a:avLst>
              <a:gd name="adj" fmla="val 195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183880" y="182880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3" descr="media/icon-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26" y="1971446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8388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183880" y="29260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operational table of patient visit records, covering demographics, wait times, satisfaction, referrals, doctors, and billing.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183880" y="38862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9,216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9326880" y="3886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visit records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8183880" y="45720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9326880" y="4572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record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8183880" y="5257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9326880" y="5257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departments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Schema — hospital_er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621792"/>
          </a:xfrm>
          <a:prstGeom prst="rect">
            <a:avLst/>
          </a:prstGeom>
          <a:solidFill>
            <a:srgbClr val="F7FAF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6002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108960" y="160020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date &amp; time (DD-MM-YYYY HH:MM, no AM/PM marker)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5349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235000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media/icon-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2437790"/>
            <a:ext cx="190195" cy="19019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222199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108960" y="2221992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identifier, e.g. 124-62-3289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843784"/>
            <a:ext cx="5349240" cy="621792"/>
          </a:xfrm>
          <a:prstGeom prst="rect">
            <a:avLst/>
          </a:prstGeom>
          <a:solidFill>
            <a:srgbClr val="F7FAFA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2843784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Gender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108960" y="2843784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/ F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3465576"/>
            <a:ext cx="5349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346557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Age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108960" y="3465576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in years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4087368"/>
            <a:ext cx="5349240" cy="621792"/>
          </a:xfrm>
          <a:prstGeom prst="rect">
            <a:avLst/>
          </a:prstGeom>
          <a:solidFill>
            <a:srgbClr val="F7FAFA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" y="4087368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Sat Score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108960" y="4087368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Single-digit satisfaction score; scale not fully documented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4709160"/>
            <a:ext cx="5349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1143000" y="470916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First Initial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108960" y="47091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initial of the patient's first name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5330952"/>
            <a:ext cx="5349240" cy="621792"/>
          </a:xfrm>
          <a:prstGeom prst="rect">
            <a:avLst/>
          </a:prstGeom>
          <a:solidFill>
            <a:srgbClr val="F7FAFA"/>
          </a:solidFill>
          <a:ln/>
        </p:spPr>
      </p:sp>
      <p:sp>
        <p:nvSpPr>
          <p:cNvPr id="25" name="Text 22"/>
          <p:cNvSpPr/>
          <p:nvPr/>
        </p:nvSpPr>
        <p:spPr>
          <a:xfrm>
            <a:off x="1143000" y="533095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Last Name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3108960" y="5330952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Patient's surname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263640" y="1600200"/>
            <a:ext cx="5349240" cy="621792"/>
          </a:xfrm>
          <a:prstGeom prst="rect">
            <a:avLst/>
          </a:prstGeom>
          <a:solidFill>
            <a:srgbClr val="F7FAFA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16002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Race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823960" y="160020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White, African American, Asian, Native American/Alaska Native, Two or More Races, etc.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63640" y="2221992"/>
            <a:ext cx="5349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0" y="222199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Admin Flag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8823960" y="2221992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(TRUE/FALSE) administrative indicator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263640" y="2843784"/>
            <a:ext cx="5349240" cy="621792"/>
          </a:xfrm>
          <a:prstGeom prst="rect">
            <a:avLst/>
          </a:prstGeom>
          <a:solidFill>
            <a:srgbClr val="F7FAFA"/>
          </a:solidFill>
          <a:ln/>
        </p:spPr>
      </p:sp>
      <p:sp>
        <p:nvSpPr>
          <p:cNvPr id="34" name="Text 31"/>
          <p:cNvSpPr/>
          <p:nvPr/>
        </p:nvSpPr>
        <p:spPr>
          <a:xfrm>
            <a:off x="6858000" y="2843784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Wait Time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823960" y="2843784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waited before being seen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263640" y="3465576"/>
            <a:ext cx="5349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6858000" y="3465576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Referral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8823960" y="3465576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assigned, or “None”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263640" y="4087368"/>
            <a:ext cx="5349240" cy="621792"/>
          </a:xfrm>
          <a:prstGeom prst="rect">
            <a:avLst/>
          </a:prstGeom>
          <a:solidFill>
            <a:srgbClr val="F7FAFA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4087368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Name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8823960" y="4087368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Attending doctor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263640" y="4709160"/>
            <a:ext cx="5349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0"/>
          <p:cNvSpPr/>
          <p:nvPr/>
        </p:nvSpPr>
        <p:spPr>
          <a:xfrm>
            <a:off x="6858000" y="470916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Fees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8823960" y="47091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cost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263640" y="5330952"/>
            <a:ext cx="5349240" cy="621792"/>
          </a:xfrm>
          <a:prstGeom prst="rect">
            <a:avLst/>
          </a:prstGeom>
          <a:solidFill>
            <a:srgbClr val="F7FAFA"/>
          </a:solidFill>
          <a:ln/>
        </p:spPr>
      </p:sp>
      <p:sp>
        <p:nvSpPr>
          <p:cNvPr id="46" name="Text 43"/>
          <p:cNvSpPr/>
          <p:nvPr/>
        </p:nvSpPr>
        <p:spPr>
          <a:xfrm>
            <a:off x="6858000" y="533095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8823960" y="5330952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amount billed, including all charges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Hospital Stands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96896" cy="2926080"/>
          </a:xfrm>
          <a:prstGeom prst="roundRect">
            <a:avLst>
              <a:gd name="adj" fmla="val 2817"/>
            </a:avLst>
          </a:prstGeom>
          <a:solidFill>
            <a:srgbClr val="0F3A5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1328" y="25146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media/icon-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6893" y="26901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47472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9,216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5800" y="416052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 visits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74136" y="2194560"/>
            <a:ext cx="2596896" cy="2926080"/>
          </a:xfrm>
          <a:prstGeom prst="roundRect">
            <a:avLst>
              <a:gd name="adj" fmla="val 2817"/>
            </a:avLst>
          </a:prstGeom>
          <a:solidFill>
            <a:srgbClr val="0F3A5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06824" y="25146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media/icon-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89" y="269016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347472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35.26 min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511296" y="416052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time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9632" y="2194560"/>
            <a:ext cx="2596896" cy="2926080"/>
          </a:xfrm>
          <a:prstGeom prst="roundRect">
            <a:avLst>
              <a:gd name="adj" fmla="val 2817"/>
            </a:avLst>
          </a:prstGeom>
          <a:solidFill>
            <a:srgbClr val="0F3A5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0" y="25146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media/icon-sm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885" y="269016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36792" y="347472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5.47 / 10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336792" y="416052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satisfaction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25128" y="2194560"/>
            <a:ext cx="2596896" cy="2926080"/>
          </a:xfrm>
          <a:prstGeom prst="roundRect">
            <a:avLst>
              <a:gd name="adj" fmla="val 2817"/>
            </a:avLst>
          </a:prstGeom>
          <a:solidFill>
            <a:srgbClr val="0F3A5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57816" y="25146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media/icon-mon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269016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62288" y="347472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509M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9162288" y="416052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that follows is measured against this baseline.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media/icon-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9626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Generation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Columbia Asia make its money, and which departments drive it?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· REVENUE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Department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1780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media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57197"/>
            <a:ext cx="6720840" cy="39951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600200"/>
            <a:ext cx="3749040" cy="4709160"/>
          </a:xfrm>
          <a:prstGeom prst="roundRect">
            <a:avLst>
              <a:gd name="adj" fmla="val 195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83880" y="18745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OF 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24231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departments drive two-thirds of revenue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3657600"/>
            <a:ext cx="32004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Orthopaedics (173M) and General Practice (156M) together generate roughly 65% of total revenue. Renal contributes the least, at just 5M — a nine-times gap between the top and bottom department.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· REVENUE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Age Group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1780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77240" y="1828800"/>
          <a:ext cx="67208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1600200"/>
            <a:ext cx="3749040" cy="4709160"/>
          </a:xfrm>
          <a:prstGeom prst="roundRect">
            <a:avLst>
              <a:gd name="adj" fmla="val 195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83880" y="18745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OF 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24231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Younger patients generate the most revenue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3657600"/>
            <a:ext cx="32004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0-18 (122M) and 19-35 (114M) age groups bring in the most revenue, tapering off with age down to 82M for 66+. Values shown in millions.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· REVENUE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Bill by Department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1780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media/image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89551"/>
            <a:ext cx="6720840" cy="31304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600200"/>
            <a:ext cx="3749040" cy="4709160"/>
          </a:xfrm>
          <a:prstGeom prst="roundRect">
            <a:avLst>
              <a:gd name="adj" fmla="val 195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83880" y="18745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OF 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24231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Neurology bills the most per visit, by far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3657600"/>
            <a:ext cx="32004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Neurology's average bill (0.38M) is more than double Cardiology's (0.28M) and over twenty times General Practice's (0.02M) — revenue here is driven by bill size, not footfall.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· REVENUE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Appointment Fee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1780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media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702007"/>
            <a:ext cx="6172200" cy="25055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600200"/>
            <a:ext cx="3749040" cy="4709160"/>
          </a:xfrm>
          <a:prstGeom prst="roundRect">
            <a:avLst>
              <a:gd name="adj" fmla="val 195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83880" y="18745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OF 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24231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Neurology commands the top consultation fee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3657600"/>
            <a:ext cx="32004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₹1,500 per appointment, Neurology charges the highest fee of any department — reinforcing it as the hospital's premium, high-margin specialty despite lower patient volume.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media/icon-do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9626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Priorities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are carrying the heaviest load, and where should new doctors go?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· STAFFING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Visits by Department Referral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1780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10458"/>
            <a:ext cx="6720840" cy="32886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600200"/>
            <a:ext cx="3749040" cy="4709160"/>
          </a:xfrm>
          <a:prstGeom prst="roundRect">
            <a:avLst>
              <a:gd name="adj" fmla="val 195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83880" y="18745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OF 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24231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Practice absorbs over 3 in 4 visits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3657600"/>
            <a:ext cx="32004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Practice handles 7.2K of the hospital's ~9.2K total visits — more than 75% of all patient traffic funnels through a single department.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· STAFFING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 per Department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1780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77240" y="1828800"/>
          <a:ext cx="67208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1600200"/>
            <a:ext cx="3749040" cy="4709160"/>
          </a:xfrm>
          <a:prstGeom prst="roundRect">
            <a:avLst>
              <a:gd name="adj" fmla="val 195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83880" y="18745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OF 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24231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Staffing doesn't scale with patient load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3657600"/>
            <a:ext cx="32004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Practice runs on just 3 doctors — the same as low-traffic Renal — despite carrying 7.2K patients versus Renal's 0.1K. This is the clearest staffing mismatch in the data.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· STAFFING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Waiting Time by Department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1780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77240" y="1828800"/>
          <a:ext cx="67208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1600200"/>
            <a:ext cx="3749040" cy="4709160"/>
          </a:xfrm>
          <a:prstGeom prst="roundRect">
            <a:avLst>
              <a:gd name="adj" fmla="val 195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83880" y="18745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OF 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24231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 times are fairly uniform, with two outliers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3657600"/>
            <a:ext cx="32004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 and Physiotherapy run slightly longer waits (37 min) than the rest of the hospital (35-36 min) — both worth watching as secondary hiring candidates.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· STAFFING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Practice: Patients by Shift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1780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media/image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34724"/>
            <a:ext cx="6720840" cy="42401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600200"/>
            <a:ext cx="3749040" cy="4709160"/>
          </a:xfrm>
          <a:prstGeom prst="roundRect">
            <a:avLst>
              <a:gd name="adj" fmla="val 195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83880" y="18745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OF 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24231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Morning shift carries double the evening load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3657600"/>
            <a:ext cx="32004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General Practice, the morning shift sees 4.8K patients versus 2.4K in the evening. A two-shift staffing model — not just more doctors — would ease the pressure.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media/icon-dis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9626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Discount Strategy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how can the hospital offer discounts without hurting its margins?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· DISCOUNTS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 Time vs. Satisfaction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1780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media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84150"/>
            <a:ext cx="6720840" cy="254125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600200"/>
            <a:ext cx="3749040" cy="4709160"/>
          </a:xfrm>
          <a:prstGeom prst="roundRect">
            <a:avLst>
              <a:gd name="adj" fmla="val 195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83880" y="18745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OF 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24231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dips sharply after ~35-40 minutes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3657600"/>
            <a:ext cx="32004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hold in the 5-6 range for most of the wait-time range, but fall as low as 4.53 past the 35-40 minute mark — a natural trigger point for a goodwill discount or voucher.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· DISCOUNTS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Volume by Age Group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1780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911" y="1828800"/>
            <a:ext cx="6631497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600200"/>
            <a:ext cx="3749040" cy="4709160"/>
          </a:xfrm>
          <a:prstGeom prst="roundRect">
            <a:avLst>
              <a:gd name="adj" fmla="val 195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83880" y="18745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OF 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24231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0-18 and 19-35 are the largest patient segments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3657600"/>
            <a:ext cx="32004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groups together make up over 44% of all visits (2,110 and 1,990 patients respectively) — discount campaigns aimed here would reach the broadest share of the patient base.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· DISCOUNTS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by Age Group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1780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media/image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68131"/>
            <a:ext cx="6720840" cy="35732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600200"/>
            <a:ext cx="3749040" cy="4709160"/>
          </a:xfrm>
          <a:prstGeom prst="roundRect">
            <a:avLst>
              <a:gd name="adj" fmla="val 195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83880" y="18745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1874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OF 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24231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patients (66+) are the least satisfied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3657600"/>
            <a:ext cx="32004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66+ age group reports the lowest average satisfaction (5.14), while 36-50 reports the highest (5.64). A loyalty or senior-citizen discount could directly target the weakest spot.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Key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media/icon-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11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9352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807208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Orthopaedics &amp; General Practice drive ~65% of revenue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40782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950208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 bills highest per visit (0.38M avg) and charges the top fee (₹1,500)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52212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5093208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age groups (0-18, 19-35) generate the most revenue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79976" y="169164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54296" y="1965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1" descr="media/icon-do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211957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77256" y="2011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Staffing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54296" y="29352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5"/>
          <p:cNvSpPr/>
          <p:nvPr/>
        </p:nvSpPr>
        <p:spPr>
          <a:xfrm>
            <a:off x="4882896" y="2807208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Practice: 75%+ of visits, only 3 doctors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654296" y="40782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7"/>
          <p:cNvSpPr/>
          <p:nvPr/>
        </p:nvSpPr>
        <p:spPr>
          <a:xfrm>
            <a:off x="4882896" y="3950208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 &amp; Physiotherapy show the longest waits (37 min)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654296" y="52212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19"/>
          <p:cNvSpPr/>
          <p:nvPr/>
        </p:nvSpPr>
        <p:spPr>
          <a:xfrm>
            <a:off x="4882896" y="5093208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Practice mornings see 2x the evening patient load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211312" y="169164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485632" y="1965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2" descr="media/icon-discou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251" y="2119579"/>
            <a:ext cx="332842" cy="33284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308592" y="2011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Discounts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485632" y="29352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4"/>
          <p:cNvSpPr/>
          <p:nvPr/>
        </p:nvSpPr>
        <p:spPr>
          <a:xfrm>
            <a:off x="8714232" y="2807208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drops sharply past 35-40 min of waiting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485632" y="40782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6"/>
          <p:cNvSpPr/>
          <p:nvPr/>
        </p:nvSpPr>
        <p:spPr>
          <a:xfrm>
            <a:off x="8714232" y="3950208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0-18 &amp; 19-35 are the largest, most reachable segments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8485632" y="52212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28"/>
          <p:cNvSpPr/>
          <p:nvPr/>
        </p:nvSpPr>
        <p:spPr>
          <a:xfrm>
            <a:off x="8714232" y="5093208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66+ patients report the lowest satisfaction (5.14)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F3A5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media/icon-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1086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74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grow Neurology / Cardiology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404872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highest-fee, highest-bill departments. Focus retention efforts and premium service quality here before discounting.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F3A5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659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media/icon-do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210860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74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into General Practice first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0" y="2404872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clearest mismatch in the data — heaviest patient load, fewest doctors relative to volume. A second-shift hire would relieve the morning crunch directly.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F3A5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media/icon-discou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34888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14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discounts by moment, not blanket cuts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00200" y="4645152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wait-time goodwill voucher past ~35 minutes, and a loyalty discount for 66+ patients — both backed directly by the satisfaction data.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F3A5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2062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media/icon-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434888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114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discount campaigns with 0-18 &amp; 19-35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15200" y="4645152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segments already represent the largest share of visits — a modest discount here reaches the most patients per rupee spent on the campaign.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Power BI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92606" y="1508760"/>
            <a:ext cx="9003740" cy="292608"/>
          </a:xfrm>
          <a:prstGeom prst="roundRect">
            <a:avLst>
              <a:gd name="adj" fmla="val 15625"/>
            </a:avLst>
          </a:prstGeom>
          <a:solidFill>
            <a:srgbClr val="E2E8ED"/>
          </a:solidFill>
          <a:ln/>
        </p:spPr>
      </p:sp>
      <p:sp>
        <p:nvSpPr>
          <p:cNvPr id="5" name="Shape 3"/>
          <p:cNvSpPr/>
          <p:nvPr/>
        </p:nvSpPr>
        <p:spPr>
          <a:xfrm>
            <a:off x="1729766" y="160020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1930934" y="160020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2132102" y="160020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Shape 6"/>
          <p:cNvSpPr/>
          <p:nvPr/>
        </p:nvSpPr>
        <p:spPr>
          <a:xfrm>
            <a:off x="1592606" y="1801368"/>
            <a:ext cx="9003740" cy="4187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2545">
                <a:alpha val="22000"/>
              </a:srgbClr>
            </a:outerShdw>
          </a:effectLst>
        </p:spPr>
      </p:sp>
      <p:pic>
        <p:nvPicPr>
          <p:cNvPr id="9" name="Image 0" descr="media/dash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606" y="1801368"/>
            <a:ext cx="9003740" cy="41879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this report trace back to this interactive dashboard — filterable by date, department, doctor, and demographic.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5029200" cy="502920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18288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media/icon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506" y="20263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346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61188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any finding or recommendation are welcome.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4389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Aishik Dalui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0" y="4800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Data Analyst  |  Power BI  •  SQL  •  DAX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Asia Hospital — Consulting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Columbia Asia Hospital — Consulting Analysis</dc:title>
  <dc:subject>PptxGenJS Presentation</dc:subject>
  <dc:creator>Aishik Dalui</dc:creator>
  <cp:lastModifiedBy>Aishik Dalui</cp:lastModifiedBy>
  <cp:revision>1</cp:revision>
  <dcterms:created xsi:type="dcterms:W3CDTF">2026-07-11T04:51:40Z</dcterms:created>
  <dcterms:modified xsi:type="dcterms:W3CDTF">2026-07-11T04:51:40Z</dcterms:modified>
</cp:coreProperties>
</file>